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54444df894c6c" /><Relationship Type="http://schemas.openxmlformats.org/officeDocument/2006/relationships/extended-properties" Target="/docProps/app.xml" Id="R14e84118419e4628" /><Relationship Type="http://schemas.openxmlformats.org/officeDocument/2006/relationships/officeDocument" Target="/ppt/presentation.xml" Id="R2e5a2928a42f42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c049c749424abc"/>
  </p:sldMasterIdLst>
  <p:notesMasterIdLst>
    <p:notesMasterId xmlns:r="http://schemas.openxmlformats.org/officeDocument/2006/relationships" r:id="R748f9f35eaad49d5"/>
  </p:notesMasterIdLst>
  <p:sldIdLst>
    <p:sldId xmlns:r="http://schemas.openxmlformats.org/officeDocument/2006/relationships" id="256" r:id="R6e66abd1dd044fcd"/>
    <p:sldId xmlns:r="http://schemas.openxmlformats.org/officeDocument/2006/relationships" id="257" r:id="Rea844e17a41343a0"/>
    <p:sldId xmlns:r="http://schemas.openxmlformats.org/officeDocument/2006/relationships" id="258" r:id="R7a9998bd11a74a05"/>
    <p:sldId xmlns:r="http://schemas.openxmlformats.org/officeDocument/2006/relationships" id="259" r:id="R222affa45a474af8"/>
    <p:sldId xmlns:r="http://schemas.openxmlformats.org/officeDocument/2006/relationships" id="260" r:id="Rdb4d7d21d43049d7"/>
    <p:sldId xmlns:r="http://schemas.openxmlformats.org/officeDocument/2006/relationships" id="261" r:id="R6c973bb17a3d4ef8"/>
    <p:sldId xmlns:r="http://schemas.openxmlformats.org/officeDocument/2006/relationships" id="262" r:id="Racff76d64b2143ed"/>
    <p:sldId xmlns:r="http://schemas.openxmlformats.org/officeDocument/2006/relationships" id="263" r:id="Ra01048b8ff6544e7"/>
    <p:sldId xmlns:r="http://schemas.openxmlformats.org/officeDocument/2006/relationships" id="264" r:id="Rd97d2e1f7a1a4cc9"/>
    <p:sldId xmlns:r="http://schemas.openxmlformats.org/officeDocument/2006/relationships" id="265" r:id="Rf61db001dcab4e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a68bf34e443fd" /><Relationship Type="http://schemas.openxmlformats.org/officeDocument/2006/relationships/slideMaster" Target="/ppt/slideMasters/slideMaster1.xml" Id="Rcfc049c749424abc" /><Relationship Type="http://schemas.openxmlformats.org/officeDocument/2006/relationships/notesMaster" Target="/ppt/notesMasters/notesMaster1.xml" Id="R748f9f35eaad49d5" /><Relationship Type="http://schemas.openxmlformats.org/officeDocument/2006/relationships/presProps" Target="/ppt/presProps.xml" Id="R5cad1221bc5e4d6a" /><Relationship Type="http://schemas.openxmlformats.org/officeDocument/2006/relationships/tableStyles" Target="/ppt/tableStyles.xml" Id="R028e72a713ca4aaa" /><Relationship Type="http://schemas.openxmlformats.org/officeDocument/2006/relationships/slide" Target="/ppt/slides/slide1.xml" Id="R6e66abd1dd044fcd" /><Relationship Type="http://schemas.openxmlformats.org/officeDocument/2006/relationships/slide" Target="/ppt/slides/slide2.xml" Id="Rea844e17a41343a0" /><Relationship Type="http://schemas.openxmlformats.org/officeDocument/2006/relationships/slide" Target="/ppt/slides/slide3.xml" Id="R7a9998bd11a74a05" /><Relationship Type="http://schemas.openxmlformats.org/officeDocument/2006/relationships/slide" Target="/ppt/slides/slide4.xml" Id="R222affa45a474af8" /><Relationship Type="http://schemas.openxmlformats.org/officeDocument/2006/relationships/slide" Target="/ppt/slides/slide5.xml" Id="Rdb4d7d21d43049d7" /><Relationship Type="http://schemas.openxmlformats.org/officeDocument/2006/relationships/slide" Target="/ppt/slides/slide6.xml" Id="R6c973bb17a3d4ef8" /><Relationship Type="http://schemas.openxmlformats.org/officeDocument/2006/relationships/slide" Target="/ppt/slides/slide7.xml" Id="Racff76d64b2143ed" /><Relationship Type="http://schemas.openxmlformats.org/officeDocument/2006/relationships/slide" Target="/ppt/slides/slide8.xml" Id="Ra01048b8ff6544e7" /><Relationship Type="http://schemas.openxmlformats.org/officeDocument/2006/relationships/slide" Target="/ppt/slides/slide9.xml" Id="Rd97d2e1f7a1a4cc9" /><Relationship Type="http://schemas.openxmlformats.org/officeDocument/2006/relationships/slide" Target="/ppt/slides/slide10.xml" Id="Rf61db001dcab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2cc19f2a9c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3c1017f684946" /><Relationship Type="http://schemas.openxmlformats.org/officeDocument/2006/relationships/notesMaster" Target="/ppt/notesMasters/notesMaster1.xml" Id="R87fd119b6ff0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46caaee32d439b" /><Relationship Type="http://schemas.openxmlformats.org/officeDocument/2006/relationships/notesMaster" Target="/ppt/notesMasters/notesMaster1.xml" Id="R7ced3a96abe941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aa5d449354f19" /><Relationship Type="http://schemas.openxmlformats.org/officeDocument/2006/relationships/notesMaster" Target="/ppt/notesMasters/notesMaster1.xml" Id="R7282a8df08d34e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5b97db550b4c11" /><Relationship Type="http://schemas.openxmlformats.org/officeDocument/2006/relationships/notesMaster" Target="/ppt/notesMasters/notesMaster1.xml" Id="Rf0ddff7f75ff48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b93ecdefb74d44" /><Relationship Type="http://schemas.openxmlformats.org/officeDocument/2006/relationships/notesMaster" Target="/ppt/notesMasters/notesMaster1.xml" Id="Re9283c3c1ce246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8cc76d71c4127" /><Relationship Type="http://schemas.openxmlformats.org/officeDocument/2006/relationships/notesMaster" Target="/ppt/notesMasters/notesMaster1.xml" Id="R83fd63f6c5d2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cb94deb6648fd" /><Relationship Type="http://schemas.openxmlformats.org/officeDocument/2006/relationships/notesMaster" Target="/ppt/notesMasters/notesMaster1.xml" Id="Rb4c8c5783be545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1dc959cd341b6" /><Relationship Type="http://schemas.openxmlformats.org/officeDocument/2006/relationships/notesMaster" Target="/ppt/notesMasters/notesMaster1.xml" Id="Rdc943f4ccce14e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f189885879467a" /><Relationship Type="http://schemas.openxmlformats.org/officeDocument/2006/relationships/notesMaster" Target="/ppt/notesMasters/notesMaster1.xml" Id="Rda8a470edacf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a525ac3ed84c9d" /><Relationship Type="http://schemas.openxmlformats.org/officeDocument/2006/relationships/notesMaster" Target="/ppt/notesMasters/notesMaster1.xml" Id="Ree8596adb06e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1:00】大家好，这项研究关注 LLM 服务的短期 Token 负载，而不是只看请求数。Token 同时包含输入和输出长度，更接近推理系统面对的工作量。我先给结论：在主测试期，LSTM 的总体 MAE 最低；但当任务变成识别训练期 P95 以上的极端负载时，四个模型都没有命中测试突发；到了另一个时期，简单 Persistence 又重新领先。今天的重点不是宣布一个永久赢家，而是展示三个任务为什么必须分开评价，以及这些结论如何从代码、表格和日志追溯。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1:20】研究问题分三层。第一，历史 5 分钟窗口能否预测未来 15 分钟的 Token 总量；第二，同样的预测是否足以识别超过固定容量阈值的突发；第三，主时期选出的模型能否零样本迁移到批次 3。贡献也对应三点：把四个方法放在完全相同的时间契约下比较；用机器校验输入截止、目标时点、训练集拟合和验证集选参；最后不把 MAE、阈值分类和迁移稳定性混成一个指标。后面每个结果页只回答其中一个问题。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1:25】主实验使用 without_fails 的第 1、2 批，清洗后合计 5,058,910 条请求。每条请求的 total_tokens 等于 Request tokens 加 Response tokens，再聚合到左闭右开的 5 分钟窗口。时间网格补齐后共有 34,848 个窗口，零请求窗口保留为零。切分不是随机抽样，而是按目标时间连续切成 70%、15%、15%。固定突发阈值只由训练集确定，P95 为 315,246.2 Token/5min。第 3 批从主实验完全隔离，只做冻结模型的零样本稳健性检验。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1:35】这是全研究最关键的时间契约。窗口时间戳是左边界，因此在预测原点 t，t 这个 5 分钟窗尚未完整结束，不能当输入；最后可用的完整窗口是 t 减 5 分钟，目标是 t 加 15 分钟。训练、验证、测试的归属按目标时间决定，避免一个输入落在训练期、目标却跨到验证或测试期。所有滚动特征只使用历史，P95 和 scaler 只在训练范围拟合，超参数只看验证 MAE。我们还写了独立校验脚本，逐项检查这些不等式与拟合边界，干净复跑时全部通过。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1:20】比较对象包括两个透明基线和两个学习模型。Persistence 使用最近一个完整窗口；Seasonal Naive 使用历史相对周期。XGBoost 输入 36 个历史特征，包括 Token 滞后、滚动统计、请求量、平均输入输出长度、服务构成和相对周期相位；12 个候选只用验证 MAE 选择。LSTM 输入过去 144 个窗口，也就是 12 小时的 10 变量序列；网络只有一层 32 单元，共 5,537 个参数。选参冻结后，两种学习模型在训练加验证范围重拟合，测试只评估一次。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1:30】先看总体点预测。15 分钟主测试中，LSTM 的 MAE 是 11,054.5 Token/5min，Persistence 是 12,342.4，Seasonal Naive 是 15,770.3，XGBoost 是 16,464.4。因此 LSTM 相对 Persistence 改善约 10.4%，是这个时期的 MAE 最优。可能原因包括短期序列连续性和小型网络对平滑动态的吸收；但不能因此说深度模型在所有指标都最好。XGBoost 的特征工程可能更适合排序极端点，而测试时期的分布也明显不同。本页只得出点预测结论。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1:35】再看固定容量突发。测试集按训练期 P95 定义后只剩 5 个正例，四个模型都没有命中，所以 Precision、Recall 和 F1 都是零。XGBoost 的 AP 为 0.0113，略高于 LSTM 的 0.0108，说明排序能力存在很小差异；但这个量级离可部署检测仍很远。主要原因是测试期绝对负载下移，固定阈值落到了极端尾部，再加上正例过少，PR 曲线非常离散。零 F1 不等于模型毫无信息，但也不能用略高的 AP 宣称突发识别已经成功。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1:30】跨时期结果进一步说明模型排名不稳定。所有模型和阈值都冻结后直接应用到 BurstGPT 第 3 批，Persistence 的 MAE 是 43,838.2，F1 是 0.711，两个指标都最好；XGBoost 和 LSTM 的误差更高，F1 约为 0.51 和 0.52。这里没有使用第 3 批重新选参或拟合，因此它反映的是零样本迁移，而不是再次训练后的可达性能。可能原因包括负载水平、构成、周期和突发基率变化。结论是复杂模型的单时期领先不能替代跨时期验证。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1:20】所有数字都要和边界一起解释。主测试只有 5 个突发正例，使 F1 极不稳定；原始轨迹没有真实日期语义，因此相对日周相位不能解释为工作日或节假日；数据没有 request_id，删除全字段精确重复时可能把并发同值请求误判为重复；另外 LSTM 对负预测做了裁零，而 XGBoost 没有，处理并非完全对称。更重要的是，本研究只评价预测指标，没有直接测量 GPU 能耗、SLO 或调度收益，因此不能把相关性结果外推成基础设施收益。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 1:15】最后总结。第一个答案：点预测上，LSTM 在主测试期的 MAE 最低。第二个答案：固定训练 P95 的突发识别并未成功，四个模型 F1 都为零，XGBoost 只在 AP 上略高。第三个答案：跨时期迁移时 Persistence 重新领先，说明模型排名依赖时期和基率。下一步应把点预测扩展为概率区间，研究自适应阈值和在线更新，并用多个批次做滚动回测。所有脚本、版本、随机种子、表图产物和论文生成命令都已写入 README，可从干净环境复跑。谢谢。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7b3d9330645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a6e93f3bd6458b" /><Relationship Type="http://schemas.openxmlformats.org/officeDocument/2006/relationships/slideLayout" Target="/ppt/slideLayouts/slideLayout1.xml" Id="R229427d47edb4d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427d47edb4d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a3315024e480c" /><Relationship Type="http://schemas.openxmlformats.org/officeDocument/2006/relationships/notesSlide" Target="/ppt/notesSlides/notesSlide1.xml" Id="R5caf17ddc3ef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aeb06e74d4e2c" /><Relationship Type="http://schemas.openxmlformats.org/officeDocument/2006/relationships/notesSlide" Target="/ppt/notesSlides/notesSlide2.xml" Id="Rd44646e1459e4b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e9c41084148b1" /><Relationship Type="http://schemas.openxmlformats.org/officeDocument/2006/relationships/notesSlide" Target="/ppt/notesSlides/notesSlide3.xml" Id="R43b19f75dc0d4c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c700809204b98" /><Relationship Type="http://schemas.openxmlformats.org/officeDocument/2006/relationships/notesSlide" Target="/ppt/notesSlides/notesSlide4.xml" Id="Rce3a1c339f6f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bce325c8143c6" /><Relationship Type="http://schemas.openxmlformats.org/officeDocument/2006/relationships/notesSlide" Target="/ppt/notesSlides/notesSlide5.xml" Id="R63e3752e55474d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fcd075de44488" /><Relationship Type="http://schemas.openxmlformats.org/officeDocument/2006/relationships/image" Target="/ppt/media/image.png" Id="Re07a85c9c80a4e39" /><Relationship Type="http://schemas.openxmlformats.org/officeDocument/2006/relationships/notesSlide" Target="/ppt/notesSlides/notesSlide6.xml" Id="R4239b20206a74e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d4d43fd324614" /><Relationship Type="http://schemas.openxmlformats.org/officeDocument/2006/relationships/image" Target="/ppt/media/image2.png" Id="R94c30d611f054c56" /><Relationship Type="http://schemas.openxmlformats.org/officeDocument/2006/relationships/notesSlide" Target="/ppt/notesSlides/notesSlide7.xml" Id="R6ca8933ae50344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8dbe2f6ac405c" /><Relationship Type="http://schemas.openxmlformats.org/officeDocument/2006/relationships/image" Target="/ppt/media/image3.png" Id="R6b34e7f7d35c40b5" /><Relationship Type="http://schemas.openxmlformats.org/officeDocument/2006/relationships/notesSlide" Target="/ppt/notesSlides/notesSlide8.xml" Id="R142919115186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f16ea8a334592" /><Relationship Type="http://schemas.openxmlformats.org/officeDocument/2006/relationships/notesSlide" Target="/ppt/notesSlides/notesSlide9.xml" Id="R19d45e4abdda4b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a34b0ca9343bf" /><Relationship Type="http://schemas.openxmlformats.org/officeDocument/2006/relationships/notesSlide" Target="/ppt/notesSlides/notesSlide10.xml" Id="Rf34d6eaf29f346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5A036-7B56-48B8-8BE2-9FCDDE4C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D73C9-AABD-4FD8-81B3-F84D581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69452-56AA-4CAC-AAED-4B808A1B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BURSTGPT · 研究复现包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67C6E-E93F-4B26-A82F-312432A4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95250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LLM 服务的 Token 负载预测
与突发流量识别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04AAA-C8B7-41DB-B84D-67AF5D4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7EA"/>
                </a:solidFill>
                <a:latin typeface="Microsoft YaHei"/>
                <a:ea typeface="Microsoft YaHei"/>
                <a:cs typeface="Microsoft YaHei"/>
              </a:defRPr>
            </a:pPr>
            <a:r>
              <a:t>XGBoost 与 LSTM 的无泄漏比较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609600" y="4514850"/>
            <a:ext cx="74771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617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51965-1DA8-4799-A80F-7ECB20B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结论先行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F3EAC-927D-4FE6-B10D-F7C2E27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334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平均误差可以改善；固定阈值极端突发仍难识别。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7081F-ED41-43D8-8BE2-63113A06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D7"/>
                </a:solidFill>
                <a:latin typeface="Microsoft YaHei"/>
                <a:ea typeface="Microsoft YaHei"/>
                <a:cs typeface="Microsoft YaHei"/>
              </a:defRPr>
            </a:pPr>
            <a:r>
              <a:t>15 分钟展示 · 2026-07-21</a:t>
            </a:r>
          </a:p>
        </p:txBody>
      </p:sp>
    </p:spTree>
    <p:extLst>
      <p:ext uri="{BB962C8B-B14F-4D97-AF65-F5344CB8AC3E}">
        <p14:creationId xmlns:p14="http://schemas.microsoft.com/office/powerpoint/2010/main" val="699193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551C8-ACC2-4CE0-95AB-3490B28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2C21E-3496-49C4-9973-D3FBB977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BURSTGPT · 15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8BF31-15D3-4D45-89B8-1C184902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研究不是只问“谁的 MAE 最低”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D7494-A56A-43C6-8897-61772129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C756C-D705-4900-BFCC-BA6BB29B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714750" cy="4286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AF2A-140E-459F-B612-687B0D85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24B6F-55D2-4899-AAA4-7AB5299D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04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在严格避免未来信息后，
历史请求轨迹能否：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CAB3-6C16-47BB-BB6A-8E38C4CB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55D32-70D9-42BA-99FF-36F7A1A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67075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预测未来 15 分钟 Token 总量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F78C9-D5B7-4049-ADAE-6034483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E2E65-8A82-4C4D-B4D1-0546605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33825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识别训练期 P95 容量超限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FEBB3-6873-49DE-9DD3-7901C95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657E5-1D43-427A-B7E2-174BD178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00575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跨时期保持模型排名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207C8-A7D6-48FA-A772-D3117104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838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F8691-0813-4214-A963-00F386E3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552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E7D40-7607-4CE0-8DF6-448AB44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00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29F52-779E-4435-AB6F-B14B4E0D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2625"/>
            <a:ext cx="5381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同一轨迹、同一时间契约下比较回归与阈值识别。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80474-52F4-48D4-B549-0071B228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6838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24388-64F9-4373-95F3-814B824D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38475"/>
            <a:ext cx="552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49F46-CB79-49C3-ADE6-3AFF242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71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可审计防泄漏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CA64D-E0E1-4F55-8D47-249DC11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24225"/>
            <a:ext cx="5381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输入截止、目标时点、切分、scaler 与 P95 均有机器校验。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72F86-1D6C-4583-B0D0-3CF0ECF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6838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5BB35-45E2-4CE6-84CD-371A846F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0075"/>
            <a:ext cx="552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371E2-DB72-4062-8E92-9E935250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434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区分三类结论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62AFE-88DF-4B84-9D7D-18FA7BC5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95825"/>
            <a:ext cx="5381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点预测、固定容量超限、跨时期迁移分别报告。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6A4E9-C0CE-4FA3-BAFB-0C7669E7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来源：paper/paper_draft.md，第 1–2 节</a:t>
            </a:r>
          </a:p>
        </p:txBody>
      </p:sp>
    </p:spTree>
    <p:extLst>
      <p:ext uri="{BB962C8B-B14F-4D97-AF65-F5344CB8AC3E}">
        <p14:creationId xmlns:p14="http://schemas.microsoft.com/office/powerpoint/2010/main" val="64701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07069-30A1-4264-8D47-F4C9079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FA805-5B61-4548-B880-5210E9E6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BURSTGPT · 15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7CB0A-6FAD-4275-BA1D-CC5C6C8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主实验覆盖 5,058,910 条清洗后请求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8F603-F61C-4A54-99EE-FF6D4A84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F4B0A-DECF-4505-9433-864F858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3528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4F6E4-FB3E-4FE7-9018-0599DE8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65F9A-FA17-45FD-BA77-47FB949A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5,058,910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E8999-22EF-4709-8459-4B7E66A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89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主批次清洗后请求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DA0C0-6961-456D-A894-F9930BE2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04950"/>
            <a:ext cx="33528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3C1A7-1EB2-4C53-B261-68A67B0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049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E1180-445C-42C4-B92E-88625CB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34,848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54786-D2B7-4868-80F4-EDCDFE0F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289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连续 5 分钟窗口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D07CE-2ECD-4381-BFB0-3E06685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33528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4DC4E-9694-4241-AAEB-7617B5C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BF78F-D15D-41B1-8C2A-BC3FC7F6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315,246.2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B3874-3B89-4303-9033-C8BCE16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895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训练集 P95 · Token/5min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4DBF4-51C7-4404-BC14-D946D095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10744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0ECEE-086A-4658-8D8F-7A7705B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请求级定义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76272-00F2-4185-B2B9-E2AFF5C8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447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79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total_tokensᵢ = request_tokensᵢ + response_tokensᵢ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02CB3-BDD1-4A08-BE72-C7742554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窗口 [bₖ, bₖ+5min) 内求和；补齐零请求窗口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810250" y="4038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16ED3-2156-4EB9-BBBA-C3DCC0FD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48125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按目标时间连续切分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8A6DF-FC35-4496-BB10-6017CBF0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67225"/>
            <a:ext cx="433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70% 训练  ·  15% 验证  ·  15% 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2D586-E6D7-4853-95B1-6E3D58C3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339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24,393  ·  5,227  ·  5,228 个目标窗口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C44B9-FC37-489C-8A8F-4C7AB2E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来源：表 1、表 2；artifacts/final/tables</a:t>
            </a:r>
          </a:p>
        </p:txBody>
      </p:sp>
    </p:spTree>
    <p:extLst>
      <p:ext uri="{BB962C8B-B14F-4D97-AF65-F5344CB8AC3E}">
        <p14:creationId xmlns:p14="http://schemas.microsoft.com/office/powerpoint/2010/main" val="2097672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C21444-C419-4EC5-B25D-E4830C1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46F09-3E04-4279-94F5-45AEB41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时间契约 · NO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D7965-0EEB-4149-ABF4-E63631C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预测原点 t 看不到 t 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54A85-EC97-4AC5-9236-B3C9CA3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845A4-AC67-4892-9236-3A48C0AB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完整输入截止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3783C-A10D-4135-8268-3B34C603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预测原点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1726F-8CA1-4503-8F18-8D426F73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621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15 分钟目标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219200" y="2857500"/>
            <a:ext cx="97536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1F3A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247C6-5A60-4273-AB24-4ED5245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93B1C-EC70-497C-BDB3-E42E453D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908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t−5min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44F99-39D3-4662-890F-FEA29DA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00450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最后可用的完整窗口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D8144-EC02-4D92-9B58-06F5EA7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60431-83C0-496E-912C-8724B04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59F17-5784-4E6E-8CBC-AE4169F3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0450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forecast origin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42371-CD58-46E1-8AA8-C0FE8CE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AC0B8-E1D9-4FE3-8F45-FBAF021F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908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t>t+15min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96C44-2A73-48FE-9587-43EE0D6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预测目标 / split 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7028D-1ED1-462E-A897-EA733010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744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3B7FC-9D4C-4825-96CD-2AC647BA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CCA19-2408-474F-9F7A-21D5E17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71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DA4AD-D2F0-4FA3-B25E-3C4DA49B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特征只来自 ≤t−5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036DD-C318-4A3B-A766-AE08D28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62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713AB-054B-47FB-B3AD-C364B574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52975"/>
            <a:ext cx="171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131F1-C69B-4D03-B4FC-2A55EBEA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482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阈值只来自训练集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A8FC7-1F3B-42A1-A248-7EA9FEBB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62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B66E3-4C11-4B61-9B7D-B76A722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52975"/>
            <a:ext cx="171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4911F-7FD3-4693-A56F-50A4D5E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scaler 只拟合训练输入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AE5415-CB75-4104-8576-DFF002B3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950F92-184A-4555-8B0C-AC58533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52975"/>
            <a:ext cx="171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62A78-986A-4AA5-AAE7-114AFFF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482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调参只看验证集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006EDA-A7CD-4817-B6A6-965A508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机器证据：scripts/validate_temporal_contract.py（PASS）</a:t>
            </a:r>
          </a:p>
        </p:txBody>
      </p:sp>
    </p:spTree>
    <p:extLst>
      <p:ext uri="{BB962C8B-B14F-4D97-AF65-F5344CB8AC3E}">
        <p14:creationId xmlns:p14="http://schemas.microsoft.com/office/powerpoint/2010/main" val="1023773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49964-DD70-4138-A436-32E404E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DE906-3E24-49D8-AFD8-1CE5194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BURSTGPT · 15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80879-DD2E-4F7E-A092-9759827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四个模型共享同一目标与测试边界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EB2B-D1D7-430E-8553-C3CA3DA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33430-FA0E-4078-806F-4C7C8014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1625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6B7D9-71DE-463E-8DA9-F4AF0D32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0E410-F2D5-4C0E-A21C-7AD10C5B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9FF2D-92D7-45FE-9B9A-E15A51C4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ŷ(t+h)=y(t−5)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15AD2-856B-4F64-BBA6-A8DE9A7D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最强短期参照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88D44-9C9B-49FE-90D1-FC06D027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51625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9218A-862D-4ADA-BC45-E0F57F3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130DD-FAFF-4AF8-A80D-F09A7AB0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049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Seasonal Naive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3F0F2-64B1-45C9-8073-11178599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历史相对周期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7634D-04B9-468E-B051-61472959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8127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周期参照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08055-9C96-4A3B-9A5F-7718F49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51625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7369A-0CD2-4D0C-B0B9-14FF972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62554-73B3-42F2-816A-72BF91A6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XGBoost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285F1-EC22-4732-8F0F-6F4F965A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36 个历史特征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389D1-766F-4294-99AA-4D48922D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个候选 · 验证 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EE55C-B3C5-428F-858C-945E40C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51625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35BC0-2200-4372-9722-6AF12E9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C899E-B009-4F90-BCFB-5B66516D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LSTM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3CD11-0842-4B71-83F9-90F21C63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t>144×10 序列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E3430-83D9-4FED-BD97-B88AAF9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32 units · 5,537 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D6B1E-C4C4-49FE-B174-0B907BB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07442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49732-B82D-46B6-BBCE-6B65F7A0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191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共同原则：验证集负责选择；冻结后测试只预测一次。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537ED-F592-46D8-9D70-3A2CCBD9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来源：表 3、表 4；paper/paper_draft.md，第 3.5–3.6 节</a:t>
            </a:r>
          </a:p>
        </p:txBody>
      </p:sp>
    </p:spTree>
    <p:extLst>
      <p:ext uri="{BB962C8B-B14F-4D97-AF65-F5344CB8AC3E}">
        <p14:creationId xmlns:p14="http://schemas.microsoft.com/office/powerpoint/2010/main" val="971447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1276B-293D-4282-A661-6ABFB7E5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51D55-5818-4ECB-A04C-4EBB6DB8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 1 · 点预测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860A0-2B4F-4A21-85D6-8D94CBC0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主测试：LSTM 的 15 分钟 MAE 最低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BA8A0-68E5-4C6B-B47E-7D27F166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62258-D3A1-4F68-8042-4DA3C72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8058150" cy="4257675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90CF7-3068-4F0C-A0F3-8FD91BF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362075"/>
            <a:ext cx="2600325" cy="42576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9866-5943-4282-8C9A-CFA28E72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114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11,054.5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30ED7-B0FA-432E-BFA4-B052ABD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114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FD0E5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Token/5min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C499B-5389-47FE-B95E-FFE1D66E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2114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LSTM 测试 MAE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9020175" y="3248025"/>
            <a:ext cx="2019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6617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6FA11-9F43-4BF2-9C95-7C11537A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21145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−10.4%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2EDE4-D9E8-49DD-9D32-17734790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33825"/>
            <a:ext cx="21145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FD0E5"/>
                </a:solidFill>
                <a:latin typeface="Microsoft YaHei"/>
                <a:ea typeface="Microsoft YaHei"/>
                <a:cs typeface="Microsoft YaHei"/>
              </a:defRPr>
            </a:pPr>
            <a:r>
              <a:t>相对 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01856-8F42-41F6-8C8F-2AA9AF7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14850"/>
            <a:ext cx="2019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但优势只属于该时间段与点预测指标。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1B83F-F045-4582-9A57-6295D211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图 13；artifacts/final/figures/fig_13_model_mae_f1_h15.png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a85c9c80a4e39"/>
          <a:stretch xmlns:a="http://schemas.openxmlformats.org/drawingml/2006/main"/>
        </p:blipFill>
        <p:spPr>
          <a:xfrm xmlns:a="http://schemas.openxmlformats.org/drawingml/2006/main">
            <a:off x="619125" y="1882674"/>
            <a:ext cx="7620000" cy="31879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00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95030-2D41-4FA4-8090-8C07C60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F8916-B1A8-4D21-A232-1D14A120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 2 · 突发识别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00602-712A-4C71-A88F-162C5F3F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固定 P95 下，四个模型都漏掉 5 个测试突发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C40E9-6436-466D-9B91-C4538B5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9506A-00C2-46A2-902F-DA7E00FB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8191500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4CE22-AAD6-43A8-A596-00D9D55D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62075"/>
            <a:ext cx="2495550" cy="4238625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FD2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45778-71E9-4537-ACAB-E150DDB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2076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t>F1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81C92-592E-49ED-A8ED-D11F6D6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526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四个模型一致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9086850" y="2657475"/>
            <a:ext cx="2000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0B58B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A98B4-2961-4383-8538-47B0F844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AP 最高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4D3C-1329-488B-A959-B325FAD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76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t>XGBoost  0.0113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CF4FB-8208-4AB3-8D6F-F9CBCE0B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43325"/>
            <a:ext cx="20764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LSTM  0.0108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5B34D-8738-4EF1-8C47-F23BD4CF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20764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排序略有差异，但不足以支持可部署的固定阈值检测。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73923-30B6-4387-BFD0-CECD255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图 12；阈值 = 训练集 P95 = 315,246.2 Token/5min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30d611f054c56"/>
          <a:stretch xmlns:a="http://schemas.openxmlformats.org/drawingml/2006/main"/>
        </p:blipFill>
        <p:spPr>
          <a:xfrm xmlns:a="http://schemas.openxmlformats.org/drawingml/2006/main">
            <a:off x="590550" y="1667825"/>
            <a:ext cx="7810500" cy="363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51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03050-4AE8-4F48-8D62-F1345746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39017-5848-4424-A742-752C47CD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 3 · 跨时期稳健性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AF13F-0EFC-4737-9BB2-6B53CDE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批次 3 零样本迁移中，Persistence 反而最好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B5869-F6B3-41E7-B447-E648B161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D8A3C-4693-4DF4-9CCF-3431AC7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8143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D63BF-0FBC-40CB-B913-680741AB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62075"/>
            <a:ext cx="2524125" cy="4095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36C3F-EE30-4FCE-9F85-27CA762D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85925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43,838.2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0C3B1-6187-474E-AEC7-BDBC102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Persistence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8E9BA-442F-4C48-828D-A2FB188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5272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t>F1  0.711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9086850" y="3429000"/>
            <a:ext cx="1981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4F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01EA1-261A-41A3-AA46-76919C5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05225"/>
            <a:ext cx="1000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XGBoost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81D3C-4D85-495B-BF0C-F00D56A1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61,795.3 · F1 0.509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B41F8-AFF6-4D9A-A84D-1292AB1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38650"/>
            <a:ext cx="1000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LSTM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EA225-92CA-4B5A-B2DD-68EFDB8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148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53,509.2 · F1 0.520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012B2-40ED-4056-81D1-8DBCE9B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Week 5 图 10；批次 3 不重新拟合、不重新选参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4e7f7d35c40b5"/>
          <a:stretch xmlns:a="http://schemas.openxmlformats.org/drawingml/2006/main"/>
        </p:blipFill>
        <p:spPr>
          <a:xfrm xmlns:a="http://schemas.openxmlformats.org/drawingml/2006/main">
            <a:off x="590550" y="1788713"/>
            <a:ext cx="7762875" cy="320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21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751EE-E1FD-453C-A2E8-2AA2B634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685E3-3A0B-480B-8CE3-D66F3E9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BURSTGPT · 15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55B08-A029-4F8A-AC44-30AE383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810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结论成立，但边界必须和数字一起展示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4BAA5-39F5-4A13-9E5D-D7FBCD2D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6D33-DE52-466C-98B4-9E4A629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5162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6CE78-0152-4128-9A65-3EE2E79D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51746-3BC8-46DA-8762-9EFDA6A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D3C55-BFB7-429A-BF84-D9F928C2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极少正例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0E5BF-1FAC-4C9D-99BF-99206F29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主测试只有 5 个固定阈值突发窗，F1 高方差。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2BFDE-1DC8-4860-AE14-72E12F0E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76375"/>
            <a:ext cx="5162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2A8CA-8266-4894-A646-6253143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52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E2018-2EB3-4DDA-B94F-3812BE43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526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79C67-6279-4B1A-A62D-3597DCFB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时间语义缺失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898B3-67FC-4C43-853F-BDA525D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62175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相对日/周相位不能解释为真实工作日或节假日。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4F96D-1C0B-47B0-B00F-F65AEEE7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5162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9C773-F4E2-40DC-9BEF-E3577AE9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3622D-0720-4FF7-8EF0-488321C6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1BD17-3638-4229-B1F5-3263FABD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清洗不确定性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6C7C5-4903-4E8B-A40D-9DF47E4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无 request_id；精确重复删除可能误删并发同值请求。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006A8-A998-4F1F-900B-556322D0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38525"/>
            <a:ext cx="5162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BF97F-4FE0-4915-899D-8F12BA9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DE6F2-6110-4986-B3BB-D97A2D7A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154C4-FE0A-4453-AB4D-19F09633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模型处理不完全对称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A2790-6C7D-42EB-89EC-DC7C371C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LSTM 负预测裁零，XGBoost 未裁零；已在论文披露。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7F1EA-CC6E-4238-AB71-9E14265B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0744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FD2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D68C9-8333-4189-8F45-69CED5CA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t>不作过度推断：本研究未证明节能、SLO 改善或生产部署收益。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57200" y="6191250"/>
            <a:ext cx="10839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C7D09-43AF-4A87-8D41-F9D0656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来源：paper/paper_draft.md，第 5 节</a:t>
            </a:r>
          </a:p>
        </p:txBody>
      </p:sp>
    </p:spTree>
    <p:extLst>
      <p:ext uri="{BB962C8B-B14F-4D97-AF65-F5344CB8AC3E}">
        <p14:creationId xmlns:p14="http://schemas.microsoft.com/office/powerpoint/2010/main" val="102894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46464-6A53-47CD-BD65-2C99CEA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21717-B32E-4C06-BE45-B1571078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905FD-65A4-4C3F-A79C-9DCB6D7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47D60-B468-4105-8B08-6E4EE5E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334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三个任务，三个答案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C6018-1040-4B07-B10C-69D3591E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9D70E-A28F-4D8F-9765-E4EB2B5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152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点预测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A57EE-5330-41F5-8011-9C3E8EAA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95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EA"/>
                </a:solidFill>
                <a:latin typeface="Microsoft YaHei"/>
                <a:ea typeface="Microsoft YaHei"/>
                <a:cs typeface="Microsoft YaHei"/>
              </a:defRPr>
            </a:pPr>
            <a:r>
              <a:t>LSTM 在主测试 MAE 最低。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1ADB4-FB8A-438B-8707-7F693B3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781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2DDA6-1536-4BCC-93BD-903B61FA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1905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固定阈值突发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EF365-B74E-4447-AAE8-70D53043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714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EA"/>
                </a:solidFill>
                <a:latin typeface="Microsoft YaHei"/>
                <a:ea typeface="Microsoft YaHei"/>
                <a:cs typeface="Microsoft YaHei"/>
              </a:defRPr>
            </a:pPr>
            <a:r>
              <a:t>四模型 F1 均为 0；XGBoost AP 略高。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EFC9A-63F0-4F20-8282-2F5DA3A7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4C3B8-EB67-4847-A091-8C98D73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跨时期迁移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ECFCD-7523-46BC-A069-7993429A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7EA"/>
                </a:solidFill>
                <a:latin typeface="Microsoft YaHei"/>
                <a:ea typeface="Microsoft YaHei"/>
                <a:cs typeface="Microsoft YaHei"/>
              </a:defRPr>
            </a:pPr>
            <a:r>
              <a:t>Persistence 在批次 3 重新领先。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09600" y="5219700"/>
            <a:ext cx="9715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617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72240-D982-455E-B231-4FF53A09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下一步：概率预测 · 自适应阈值 · 在线更新 · 多批次滚动评估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3C3D2-4333-4175-AFD8-4C29230C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7239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D7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代码、表图、实验日志与论文均可按 README 复跑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5CB07-149D-4179-8D3A-BC25C4F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9525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FC1D7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930481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2026-07-21T20:11:41.0660000Z</dcterms:created>
  <dcterms:modified xsi:type="dcterms:W3CDTF">2026-07-21T20:11:41.0660000Z</dcterms:modified>
</coreProperties>
</file>